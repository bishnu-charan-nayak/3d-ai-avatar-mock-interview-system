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3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5101" y="179578"/>
            <a:ext cx="374522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761"/>
            <a:ext cx="2851530" cy="685876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880" y="0"/>
                </a:moveTo>
                <a:lnTo>
                  <a:pt x="0" y="0"/>
                </a:lnTo>
                <a:lnTo>
                  <a:pt x="0" y="6858000"/>
                </a:lnTo>
                <a:lnTo>
                  <a:pt x="182880" y="6858000"/>
                </a:lnTo>
                <a:lnTo>
                  <a:pt x="182880" y="0"/>
                </a:lnTo>
                <a:close/>
              </a:path>
            </a:pathLst>
          </a:custGeom>
          <a:solidFill>
            <a:srgbClr val="766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14375"/>
            <a:ext cx="1591945" cy="507365"/>
          </a:xfrm>
          <a:custGeom>
            <a:avLst/>
            <a:gdLst/>
            <a:ahLst/>
            <a:cxnLst/>
            <a:rect l="l" t="t" r="r" b="b"/>
            <a:pathLst>
              <a:path w="1591945" h="507365">
                <a:moveTo>
                  <a:pt x="0" y="0"/>
                </a:moveTo>
                <a:lnTo>
                  <a:pt x="0" y="503820"/>
                </a:lnTo>
                <a:lnTo>
                  <a:pt x="1245438" y="507238"/>
                </a:lnTo>
                <a:lnTo>
                  <a:pt x="1345692" y="507238"/>
                </a:lnTo>
                <a:lnTo>
                  <a:pt x="1351915" y="500888"/>
                </a:lnTo>
                <a:lnTo>
                  <a:pt x="1353820" y="499363"/>
                </a:lnTo>
                <a:lnTo>
                  <a:pt x="1584325" y="268859"/>
                </a:lnTo>
                <a:lnTo>
                  <a:pt x="1589611" y="261695"/>
                </a:lnTo>
                <a:lnTo>
                  <a:pt x="1591373" y="254508"/>
                </a:lnTo>
                <a:lnTo>
                  <a:pt x="1589611" y="247320"/>
                </a:lnTo>
                <a:lnTo>
                  <a:pt x="1584325" y="240157"/>
                </a:lnTo>
                <a:lnTo>
                  <a:pt x="1355344" y="11302"/>
                </a:lnTo>
                <a:lnTo>
                  <a:pt x="1350391" y="11302"/>
                </a:lnTo>
                <a:lnTo>
                  <a:pt x="1350391" y="6476"/>
                </a:lnTo>
                <a:lnTo>
                  <a:pt x="1345692" y="6476"/>
                </a:lnTo>
                <a:lnTo>
                  <a:pt x="1340993" y="1777"/>
                </a:lnTo>
                <a:lnTo>
                  <a:pt x="0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6642" y="17475"/>
            <a:ext cx="5458714" cy="10870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888" y="1593951"/>
            <a:ext cx="10249535" cy="3226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76421" y="2336037"/>
            <a:ext cx="5606415" cy="1849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252525"/>
                </a:solidFill>
                <a:latin typeface="Century Gothic"/>
                <a:cs typeface="Century Gothic"/>
              </a:rPr>
              <a:t>Avatar-</a:t>
            </a:r>
            <a:r>
              <a:rPr sz="4000" spc="-10" dirty="0">
                <a:solidFill>
                  <a:srgbClr val="252525"/>
                </a:solidFill>
                <a:latin typeface="Century Gothic"/>
                <a:cs typeface="Century Gothic"/>
              </a:rPr>
              <a:t>Based</a:t>
            </a:r>
            <a:endParaRPr sz="4000">
              <a:latin typeface="Century Gothic"/>
              <a:cs typeface="Century Gothic"/>
            </a:endParaRPr>
          </a:p>
          <a:p>
            <a:pPr marL="140335" algn="ctr">
              <a:lnSpc>
                <a:spcPts val="4780"/>
              </a:lnSpc>
            </a:pPr>
            <a:r>
              <a:rPr sz="4000" spc="-25" dirty="0">
                <a:solidFill>
                  <a:srgbClr val="252525"/>
                </a:solidFill>
                <a:latin typeface="Century Gothic"/>
                <a:cs typeface="Century Gothic"/>
              </a:rPr>
              <a:t>AI</a:t>
            </a:r>
            <a:endParaRPr sz="4000">
              <a:latin typeface="Century Gothic"/>
              <a:cs typeface="Century Gothic"/>
            </a:endParaRPr>
          </a:p>
          <a:p>
            <a:pPr algn="ctr">
              <a:lnSpc>
                <a:spcPts val="4780"/>
              </a:lnSpc>
              <a:tabLst>
                <a:tab pos="3877945" algn="l"/>
              </a:tabLst>
            </a:pPr>
            <a:r>
              <a:rPr sz="4000" dirty="0">
                <a:solidFill>
                  <a:srgbClr val="252525"/>
                </a:solidFill>
                <a:latin typeface="Century Gothic"/>
                <a:cs typeface="Century Gothic"/>
              </a:rPr>
              <a:t>Mock</a:t>
            </a:r>
            <a:r>
              <a:rPr sz="4000" spc="-105" dirty="0">
                <a:solidFill>
                  <a:srgbClr val="252525"/>
                </a:solidFill>
                <a:latin typeface="Century Gothic"/>
                <a:cs typeface="Century Gothic"/>
              </a:rPr>
              <a:t> </a:t>
            </a:r>
            <a:r>
              <a:rPr sz="4000" spc="-10" dirty="0">
                <a:solidFill>
                  <a:srgbClr val="252525"/>
                </a:solidFill>
                <a:latin typeface="Century Gothic"/>
                <a:cs typeface="Century Gothic"/>
              </a:rPr>
              <a:t>Interview</a:t>
            </a:r>
            <a:r>
              <a:rPr sz="4000" dirty="0">
                <a:solidFill>
                  <a:srgbClr val="252525"/>
                </a:solidFill>
                <a:latin typeface="Century Gothic"/>
                <a:cs typeface="Century Gothic"/>
              </a:rPr>
              <a:t>	</a:t>
            </a:r>
            <a:r>
              <a:rPr sz="4000" spc="-10" dirty="0">
                <a:solidFill>
                  <a:srgbClr val="252525"/>
                </a:solidFill>
                <a:latin typeface="Century Gothic"/>
                <a:cs typeface="Century Gothic"/>
              </a:rPr>
              <a:t>System</a:t>
            </a:r>
            <a:endParaRPr sz="4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761"/>
            <a:ext cx="12192000" cy="6859270"/>
            <a:chOff x="0" y="-761"/>
            <a:chExt cx="1219200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761"/>
              <a:ext cx="2851530" cy="68587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766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82880" y="685800"/>
            <a:ext cx="1742439" cy="778510"/>
          </a:xfrm>
          <a:custGeom>
            <a:avLst/>
            <a:gdLst/>
            <a:ahLst/>
            <a:cxnLst/>
            <a:rect l="l" t="t" r="r" b="b"/>
            <a:pathLst>
              <a:path w="1742439" h="778510">
                <a:moveTo>
                  <a:pt x="1345946" y="0"/>
                </a:moveTo>
                <a:lnTo>
                  <a:pt x="0" y="0"/>
                </a:lnTo>
                <a:lnTo>
                  <a:pt x="0" y="778509"/>
                </a:lnTo>
                <a:lnTo>
                  <a:pt x="1345946" y="778509"/>
                </a:lnTo>
                <a:lnTo>
                  <a:pt x="1355637" y="777704"/>
                </a:lnTo>
                <a:lnTo>
                  <a:pt x="1363567" y="775588"/>
                </a:lnTo>
                <a:lnTo>
                  <a:pt x="1369734" y="772616"/>
                </a:lnTo>
                <a:lnTo>
                  <a:pt x="1374140" y="769238"/>
                </a:lnTo>
                <a:lnTo>
                  <a:pt x="1374140" y="764539"/>
                </a:lnTo>
                <a:lnTo>
                  <a:pt x="1378839" y="764539"/>
                </a:lnTo>
                <a:lnTo>
                  <a:pt x="1735327" y="408050"/>
                </a:lnTo>
                <a:lnTo>
                  <a:pt x="1740542" y="399460"/>
                </a:lnTo>
                <a:lnTo>
                  <a:pt x="1742281" y="388667"/>
                </a:lnTo>
                <a:lnTo>
                  <a:pt x="1740542" y="376993"/>
                </a:lnTo>
                <a:lnTo>
                  <a:pt x="1735327" y="365759"/>
                </a:lnTo>
                <a:lnTo>
                  <a:pt x="1378839" y="14096"/>
                </a:lnTo>
                <a:lnTo>
                  <a:pt x="1378839" y="9397"/>
                </a:lnTo>
                <a:lnTo>
                  <a:pt x="1374140" y="9397"/>
                </a:lnTo>
                <a:lnTo>
                  <a:pt x="1369734" y="5947"/>
                </a:lnTo>
                <a:lnTo>
                  <a:pt x="1363567" y="2936"/>
                </a:lnTo>
                <a:lnTo>
                  <a:pt x="1355637" y="807"/>
                </a:lnTo>
                <a:lnTo>
                  <a:pt x="1345946" y="0"/>
                </a:lnTo>
                <a:close/>
              </a:path>
            </a:pathLst>
          </a:custGeom>
          <a:solidFill>
            <a:srgbClr val="A42F0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020822" y="3488402"/>
          <a:ext cx="4625340" cy="1137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BISHNU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CHARAN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NAYAK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35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2321316046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CHINMAYA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PRADHAN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2201316010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31750">
                        <a:lnSpc>
                          <a:spcPts val="1605"/>
                        </a:lnSpc>
                        <a:spcBef>
                          <a:spcPts val="140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OMM</a:t>
                      </a:r>
                      <a:r>
                        <a:rPr sz="1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SHUBAM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SAHOO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605"/>
                        </a:lnSpc>
                        <a:spcBef>
                          <a:spcPts val="1405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2201316020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77157" y="128143"/>
            <a:ext cx="2254885" cy="17317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70096" y="5309742"/>
            <a:ext cx="302641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Under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sz="1800" spc="4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guidance</a:t>
            </a:r>
            <a:r>
              <a:rPr sz="18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Mrs.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Times New Roman"/>
                <a:cs typeface="Times New Roman"/>
              </a:rPr>
              <a:t>ANITA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BEHERA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Tech</a:t>
            </a:r>
            <a:endParaRPr sz="18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Assistant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Professor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(hod)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80840" y="1948053"/>
            <a:ext cx="4440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Bhubaneswar</a:t>
            </a:r>
            <a:r>
              <a:rPr sz="240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Engineering</a:t>
            </a:r>
            <a:r>
              <a:rPr sz="240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college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3080" y="2176271"/>
            <a:ext cx="6696709" cy="855344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800" b="1" spc="-25" dirty="0">
                <a:latin typeface="Times New Roman"/>
                <a:cs typeface="Times New Roman"/>
              </a:rPr>
              <a:t>DEPARTMENT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COMPUTER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SCIENCE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  <a:p>
            <a:pPr marR="699770" algn="ctr">
              <a:lnSpc>
                <a:spcPct val="100000"/>
              </a:lnSpc>
              <a:spcBef>
                <a:spcPts val="111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Submitted</a:t>
            </a:r>
            <a:r>
              <a:rPr sz="180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7671" y="403987"/>
            <a:ext cx="20516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entury Gothic"/>
                <a:cs typeface="Century Gothic"/>
              </a:rPr>
              <a:t>CONTENTS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00985" y="1063375"/>
            <a:ext cx="2715260" cy="483235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Introduction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Abstract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Problem</a:t>
            </a:r>
            <a:r>
              <a:rPr sz="18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Statement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Existing</a:t>
            </a:r>
            <a:r>
              <a:rPr sz="18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System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Proposed</a:t>
            </a:r>
            <a:r>
              <a:rPr sz="18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System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Modules</a:t>
            </a:r>
            <a:endParaRPr sz="18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415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Frontend</a:t>
            </a:r>
            <a:endParaRPr sz="1600">
              <a:latin typeface="Century Gothic"/>
              <a:cs typeface="Century Gothic"/>
            </a:endParaRPr>
          </a:p>
          <a:p>
            <a:pPr marL="469900">
              <a:lnSpc>
                <a:spcPct val="100000"/>
              </a:lnSpc>
              <a:spcBef>
                <a:spcPts val="81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415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Backend</a:t>
            </a:r>
            <a:endParaRPr sz="1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System</a:t>
            </a:r>
            <a:r>
              <a:rPr sz="18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Requirements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UML</a:t>
            </a:r>
            <a:r>
              <a:rPr sz="1800" spc="-1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diagrams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Output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Conclusion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Century Gothic"/>
                <a:cs typeface="Century Gothic"/>
              </a:rPr>
              <a:t>References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1680"/>
            <a:ext cx="22847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8279" indent="-34353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latin typeface="Times New Roman"/>
                <a:cs typeface="Times New Roman"/>
              </a:rPr>
              <a:t>Purpose</a:t>
            </a:r>
            <a:r>
              <a:rPr dirty="0"/>
              <a:t>:</a:t>
            </a:r>
            <a:r>
              <a:rPr spc="-8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project</a:t>
            </a:r>
            <a:r>
              <a:rPr spc="-70" dirty="0"/>
              <a:t> </a:t>
            </a:r>
            <a:r>
              <a:rPr dirty="0"/>
              <a:t>aims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revolutionize</a:t>
            </a:r>
            <a:r>
              <a:rPr spc="-50" dirty="0"/>
              <a:t> </a:t>
            </a:r>
            <a:r>
              <a:rPr dirty="0"/>
              <a:t>interview</a:t>
            </a:r>
            <a:r>
              <a:rPr spc="-45" dirty="0"/>
              <a:t> </a:t>
            </a:r>
            <a:r>
              <a:rPr dirty="0"/>
              <a:t>preparation</a:t>
            </a:r>
            <a:r>
              <a:rPr spc="-55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offering</a:t>
            </a:r>
            <a:r>
              <a:rPr spc="-5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immersive</a:t>
            </a:r>
            <a:r>
              <a:rPr spc="-15" dirty="0"/>
              <a:t> </a:t>
            </a:r>
            <a:r>
              <a:rPr spc="-25" dirty="0"/>
              <a:t>and </a:t>
            </a:r>
            <a:r>
              <a:rPr dirty="0"/>
              <a:t>personalized</a:t>
            </a:r>
            <a:r>
              <a:rPr spc="-65" dirty="0"/>
              <a:t> </a:t>
            </a:r>
            <a:r>
              <a:rPr dirty="0"/>
              <a:t>mock</a:t>
            </a:r>
            <a:r>
              <a:rPr spc="-15" dirty="0"/>
              <a:t> </a:t>
            </a:r>
            <a:r>
              <a:rPr dirty="0"/>
              <a:t>interview</a:t>
            </a:r>
            <a:r>
              <a:rPr spc="-50" dirty="0"/>
              <a:t> </a:t>
            </a:r>
            <a:r>
              <a:rPr spc="-10" dirty="0"/>
              <a:t>experience.</a:t>
            </a: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latin typeface="Times New Roman"/>
                <a:cs typeface="Times New Roman"/>
              </a:rPr>
              <a:t>Problem</a:t>
            </a:r>
            <a:r>
              <a:rPr dirty="0"/>
              <a:t>:</a:t>
            </a:r>
            <a:r>
              <a:rPr spc="-90" dirty="0"/>
              <a:t> </a:t>
            </a:r>
            <a:r>
              <a:rPr spc="-10" dirty="0"/>
              <a:t>Traditional</a:t>
            </a:r>
            <a:r>
              <a:rPr spc="-75" dirty="0"/>
              <a:t> </a:t>
            </a:r>
            <a:r>
              <a:rPr dirty="0"/>
              <a:t>interview</a:t>
            </a:r>
            <a:r>
              <a:rPr spc="-60" dirty="0"/>
              <a:t> </a:t>
            </a:r>
            <a:r>
              <a:rPr dirty="0"/>
              <a:t>preparation</a:t>
            </a:r>
            <a:r>
              <a:rPr spc="-65" dirty="0"/>
              <a:t> </a:t>
            </a:r>
            <a:r>
              <a:rPr dirty="0"/>
              <a:t>tools</a:t>
            </a:r>
            <a:r>
              <a:rPr spc="-50" dirty="0"/>
              <a:t> </a:t>
            </a:r>
            <a:r>
              <a:rPr dirty="0"/>
              <a:t>lack</a:t>
            </a:r>
            <a:r>
              <a:rPr spc="-45" dirty="0"/>
              <a:t> </a:t>
            </a:r>
            <a:r>
              <a:rPr spc="-10" dirty="0"/>
              <a:t>adaptability,</a:t>
            </a:r>
            <a:r>
              <a:rPr spc="-55" dirty="0"/>
              <a:t> </a:t>
            </a:r>
            <a:r>
              <a:rPr dirty="0"/>
              <a:t>contextual</a:t>
            </a:r>
            <a:r>
              <a:rPr spc="-65" dirty="0"/>
              <a:t> </a:t>
            </a:r>
            <a:r>
              <a:rPr dirty="0"/>
              <a:t>understanding,</a:t>
            </a:r>
            <a:r>
              <a:rPr spc="-55" dirty="0"/>
              <a:t> </a:t>
            </a:r>
            <a:r>
              <a:rPr spc="-25" dirty="0"/>
              <a:t>and</a:t>
            </a: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/>
              <a:t>realism</a:t>
            </a:r>
            <a:r>
              <a:rPr spc="-60" dirty="0"/>
              <a:t> </a:t>
            </a:r>
            <a:r>
              <a:rPr dirty="0"/>
              <a:t>making</a:t>
            </a:r>
            <a:r>
              <a:rPr spc="-20" dirty="0"/>
              <a:t> </a:t>
            </a:r>
            <a:r>
              <a:rPr dirty="0"/>
              <a:t>them</a:t>
            </a:r>
            <a:r>
              <a:rPr spc="-40" dirty="0"/>
              <a:t> </a:t>
            </a:r>
            <a:r>
              <a:rPr dirty="0"/>
              <a:t>less</a:t>
            </a:r>
            <a:r>
              <a:rPr spc="-40" dirty="0"/>
              <a:t> </a:t>
            </a:r>
            <a:r>
              <a:rPr dirty="0"/>
              <a:t>effective</a:t>
            </a:r>
            <a:r>
              <a:rPr spc="-4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10" dirty="0"/>
              <a:t>candidates.</a:t>
            </a:r>
          </a:p>
          <a:p>
            <a:pPr marL="355600" marR="5080" indent="-343535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b="1" dirty="0">
                <a:latin typeface="Times New Roman"/>
                <a:cs typeface="Times New Roman"/>
              </a:rPr>
              <a:t>Solution</a:t>
            </a:r>
            <a:r>
              <a:rPr dirty="0"/>
              <a:t>:</a:t>
            </a:r>
            <a:r>
              <a:rPr spc="-100" dirty="0"/>
              <a:t> </a:t>
            </a: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AI</a:t>
            </a:r>
            <a:r>
              <a:rPr spc="-15" dirty="0"/>
              <a:t> </a:t>
            </a:r>
            <a:r>
              <a:rPr dirty="0"/>
              <a:t>Mock</a:t>
            </a:r>
            <a:r>
              <a:rPr spc="-25" dirty="0"/>
              <a:t> </a:t>
            </a:r>
            <a:r>
              <a:rPr dirty="0"/>
              <a:t>Interview</a:t>
            </a:r>
            <a:r>
              <a:rPr spc="-85" dirty="0"/>
              <a:t> </a:t>
            </a:r>
            <a:r>
              <a:rPr spc="-20" dirty="0"/>
              <a:t>Tool</a:t>
            </a:r>
            <a:r>
              <a:rPr spc="-30" dirty="0"/>
              <a:t> </a:t>
            </a:r>
            <a:r>
              <a:rPr dirty="0"/>
              <a:t>leverages</a:t>
            </a:r>
            <a:r>
              <a:rPr spc="-45" dirty="0"/>
              <a:t> </a:t>
            </a:r>
            <a:r>
              <a:rPr dirty="0"/>
              <a:t>LLMs,</a:t>
            </a:r>
            <a:r>
              <a:rPr spc="-10" dirty="0"/>
              <a:t> </a:t>
            </a:r>
            <a:r>
              <a:rPr dirty="0"/>
              <a:t>3D</a:t>
            </a:r>
            <a:r>
              <a:rPr spc="-35" dirty="0"/>
              <a:t> </a:t>
            </a:r>
            <a:r>
              <a:rPr dirty="0"/>
              <a:t>avatars,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speech</a:t>
            </a:r>
            <a:r>
              <a:rPr spc="-35" dirty="0"/>
              <a:t> </a:t>
            </a:r>
            <a:r>
              <a:rPr dirty="0"/>
              <a:t>recognition</a:t>
            </a:r>
            <a:r>
              <a:rPr spc="-50" dirty="0"/>
              <a:t> </a:t>
            </a:r>
            <a:r>
              <a:rPr spc="-25" dirty="0"/>
              <a:t>to </a:t>
            </a:r>
            <a:r>
              <a:rPr dirty="0"/>
              <a:t>generate</a:t>
            </a:r>
            <a:r>
              <a:rPr spc="-40" dirty="0"/>
              <a:t> </a:t>
            </a:r>
            <a:r>
              <a:rPr spc="-10" dirty="0"/>
              <a:t>context-</a:t>
            </a:r>
            <a:r>
              <a:rPr dirty="0"/>
              <a:t>aware</a:t>
            </a:r>
            <a:r>
              <a:rPr spc="-35" dirty="0"/>
              <a:t> </a:t>
            </a:r>
            <a:r>
              <a:rPr dirty="0"/>
              <a:t>questions</a:t>
            </a:r>
            <a:r>
              <a:rPr spc="-5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dirty="0"/>
              <a:t>provide</a:t>
            </a:r>
            <a:r>
              <a:rPr spc="-30" dirty="0"/>
              <a:t> </a:t>
            </a:r>
            <a:r>
              <a:rPr dirty="0"/>
              <a:t>real-time</a:t>
            </a:r>
            <a:r>
              <a:rPr spc="-25" dirty="0"/>
              <a:t> </a:t>
            </a:r>
            <a:r>
              <a:rPr dirty="0"/>
              <a:t>feedback,</a:t>
            </a:r>
            <a:r>
              <a:rPr spc="-25" dirty="0"/>
              <a:t> </a:t>
            </a:r>
            <a:r>
              <a:rPr dirty="0"/>
              <a:t>creating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lifelike</a:t>
            </a:r>
            <a:r>
              <a:rPr spc="-15" dirty="0"/>
              <a:t> </a:t>
            </a:r>
            <a:r>
              <a:rPr dirty="0"/>
              <a:t>and</a:t>
            </a:r>
            <a:r>
              <a:rPr spc="-10" dirty="0"/>
              <a:t> effective </a:t>
            </a:r>
            <a:r>
              <a:rPr dirty="0"/>
              <a:t>preparation</a:t>
            </a:r>
            <a:r>
              <a:rPr spc="-55" dirty="0"/>
              <a:t> </a:t>
            </a:r>
            <a:r>
              <a:rPr spc="-10" dirty="0"/>
              <a:t>environment.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4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1952" y="641680"/>
            <a:ext cx="1576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66703" rIns="0" bIns="0" rtlCol="0">
            <a:spAutoFit/>
          </a:bodyPr>
          <a:lstStyle/>
          <a:p>
            <a:pPr marL="435609" indent="-3422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436245" algn="l"/>
              </a:tabLst>
            </a:pP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AI</a:t>
            </a:r>
            <a:r>
              <a:rPr spc="-20" dirty="0"/>
              <a:t> </a:t>
            </a:r>
            <a:r>
              <a:rPr dirty="0"/>
              <a:t>Mock</a:t>
            </a:r>
            <a:r>
              <a:rPr spc="-30" dirty="0"/>
              <a:t> </a:t>
            </a:r>
            <a:r>
              <a:rPr dirty="0"/>
              <a:t>Interview</a:t>
            </a:r>
            <a:r>
              <a:rPr spc="-85" dirty="0"/>
              <a:t> </a:t>
            </a:r>
            <a:r>
              <a:rPr spc="-20" dirty="0"/>
              <a:t>Tool</a:t>
            </a:r>
            <a:r>
              <a:rPr spc="-30" dirty="0"/>
              <a:t> </a:t>
            </a:r>
            <a:r>
              <a:rPr dirty="0"/>
              <a:t>offers</a:t>
            </a:r>
            <a:r>
              <a:rPr spc="-5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realistic</a:t>
            </a:r>
            <a:r>
              <a:rPr spc="-40" dirty="0"/>
              <a:t> </a:t>
            </a:r>
            <a:r>
              <a:rPr dirty="0"/>
              <a:t>interview</a:t>
            </a:r>
            <a:r>
              <a:rPr spc="-45" dirty="0"/>
              <a:t> </a:t>
            </a:r>
            <a:r>
              <a:rPr dirty="0"/>
              <a:t>experience</a:t>
            </a:r>
            <a:r>
              <a:rPr spc="-60" dirty="0"/>
              <a:t> </a:t>
            </a:r>
            <a:r>
              <a:rPr dirty="0"/>
              <a:t>through</a:t>
            </a:r>
            <a:r>
              <a:rPr spc="-5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3D</a:t>
            </a:r>
            <a:r>
              <a:rPr spc="-15" dirty="0"/>
              <a:t> </a:t>
            </a:r>
            <a:r>
              <a:rPr dirty="0"/>
              <a:t>avatar</a:t>
            </a:r>
            <a:r>
              <a:rPr spc="-35" dirty="0"/>
              <a:t> </a:t>
            </a:r>
            <a:r>
              <a:rPr spc="-10" dirty="0"/>
              <a:t>powered</a:t>
            </a:r>
          </a:p>
          <a:p>
            <a:pPr marL="435609">
              <a:lnSpc>
                <a:spcPct val="100000"/>
              </a:lnSpc>
              <a:spcBef>
                <a:spcPts val="1200"/>
              </a:spcBef>
            </a:pPr>
            <a:r>
              <a:rPr dirty="0"/>
              <a:t>by</a:t>
            </a:r>
            <a:r>
              <a:rPr spc="-30" dirty="0"/>
              <a:t> </a:t>
            </a:r>
            <a:r>
              <a:rPr dirty="0"/>
              <a:t>advanced</a:t>
            </a:r>
            <a:r>
              <a:rPr spc="-140" dirty="0"/>
              <a:t> </a:t>
            </a:r>
            <a:r>
              <a:rPr dirty="0"/>
              <a:t>AI-driven</a:t>
            </a:r>
            <a:r>
              <a:rPr spc="-50" dirty="0"/>
              <a:t> </a:t>
            </a:r>
            <a:r>
              <a:rPr dirty="0"/>
              <a:t>contextual</a:t>
            </a:r>
            <a:r>
              <a:rPr spc="-50" dirty="0"/>
              <a:t> </a:t>
            </a:r>
            <a:r>
              <a:rPr spc="-10" dirty="0"/>
              <a:t>questioning.</a:t>
            </a:r>
          </a:p>
          <a:p>
            <a:pPr marL="435609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36245" algn="l"/>
              </a:tabLst>
            </a:pPr>
            <a:r>
              <a:rPr dirty="0"/>
              <a:t>Integrated</a:t>
            </a:r>
            <a:r>
              <a:rPr spc="-45" dirty="0"/>
              <a:t> </a:t>
            </a:r>
            <a:r>
              <a:rPr dirty="0"/>
              <a:t>speech</a:t>
            </a:r>
            <a:r>
              <a:rPr spc="-40" dirty="0"/>
              <a:t> </a:t>
            </a:r>
            <a:r>
              <a:rPr dirty="0"/>
              <a:t>recognition</a:t>
            </a:r>
            <a:r>
              <a:rPr spc="-4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natural</a:t>
            </a:r>
            <a:r>
              <a:rPr spc="-45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dirty="0"/>
              <a:t>processing</a:t>
            </a:r>
            <a:r>
              <a:rPr spc="-45" dirty="0"/>
              <a:t> </a:t>
            </a:r>
            <a:r>
              <a:rPr dirty="0"/>
              <a:t>provide</a:t>
            </a:r>
            <a:r>
              <a:rPr spc="-35" dirty="0"/>
              <a:t> </a:t>
            </a:r>
            <a:r>
              <a:rPr dirty="0"/>
              <a:t>personalized</a:t>
            </a:r>
            <a:r>
              <a:rPr spc="-50" dirty="0"/>
              <a:t> </a:t>
            </a:r>
            <a:r>
              <a:rPr spc="-10" dirty="0"/>
              <a:t>feedback,</a:t>
            </a:r>
          </a:p>
          <a:p>
            <a:pPr marL="499745" indent="-406400">
              <a:lnSpc>
                <a:spcPct val="100000"/>
              </a:lnSpc>
              <a:spcBef>
                <a:spcPts val="1200"/>
              </a:spcBef>
              <a:buClr>
                <a:srgbClr val="404040"/>
              </a:buClr>
              <a:buFont typeface="Wingdings"/>
              <a:buChar char=""/>
              <a:tabLst>
                <a:tab pos="500380" algn="l"/>
              </a:tabLst>
            </a:pPr>
            <a:r>
              <a:rPr dirty="0"/>
              <a:t>helping</a:t>
            </a:r>
            <a:r>
              <a:rPr spc="-45" dirty="0"/>
              <a:t> </a:t>
            </a:r>
            <a:r>
              <a:rPr dirty="0"/>
              <a:t>candidates</a:t>
            </a:r>
            <a:r>
              <a:rPr spc="-45" dirty="0"/>
              <a:t> </a:t>
            </a:r>
            <a:r>
              <a:rPr dirty="0"/>
              <a:t>enhance</a:t>
            </a:r>
            <a:r>
              <a:rPr spc="-30" dirty="0"/>
              <a:t> </a:t>
            </a:r>
            <a:r>
              <a:rPr dirty="0"/>
              <a:t>their</a:t>
            </a:r>
            <a:r>
              <a:rPr spc="-40" dirty="0"/>
              <a:t> </a:t>
            </a:r>
            <a:r>
              <a:rPr dirty="0"/>
              <a:t>communication</a:t>
            </a:r>
            <a:r>
              <a:rPr spc="-25" dirty="0"/>
              <a:t> </a:t>
            </a:r>
            <a:r>
              <a:rPr dirty="0"/>
              <a:t>skills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performance.</a:t>
            </a:r>
          </a:p>
          <a:p>
            <a:pPr marL="435609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436245" algn="l"/>
              </a:tabLst>
            </a:pPr>
            <a:r>
              <a:rPr dirty="0"/>
              <a:t>A</a:t>
            </a:r>
            <a:r>
              <a:rPr spc="-125" dirty="0"/>
              <a:t> </a:t>
            </a:r>
            <a:r>
              <a:rPr dirty="0"/>
              <a:t>customizable</a:t>
            </a:r>
            <a:r>
              <a:rPr spc="-40" dirty="0"/>
              <a:t> </a:t>
            </a:r>
            <a:r>
              <a:rPr dirty="0"/>
              <a:t>role-based</a:t>
            </a:r>
            <a:r>
              <a:rPr spc="-50" dirty="0"/>
              <a:t> </a:t>
            </a: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allows</a:t>
            </a:r>
            <a:r>
              <a:rPr spc="-35" dirty="0"/>
              <a:t> </a:t>
            </a:r>
            <a:r>
              <a:rPr dirty="0"/>
              <a:t>users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select</a:t>
            </a:r>
            <a:r>
              <a:rPr spc="-40" dirty="0"/>
              <a:t> </a:t>
            </a:r>
            <a:r>
              <a:rPr dirty="0"/>
              <a:t>scenarios,</a:t>
            </a:r>
            <a:r>
              <a:rPr spc="-60" dirty="0"/>
              <a:t> </a:t>
            </a:r>
            <a:r>
              <a:rPr dirty="0"/>
              <a:t>adjust</a:t>
            </a:r>
            <a:r>
              <a:rPr spc="-55" dirty="0"/>
              <a:t> </a:t>
            </a:r>
            <a:r>
              <a:rPr dirty="0"/>
              <a:t>difficulty</a:t>
            </a:r>
            <a:r>
              <a:rPr spc="-50" dirty="0"/>
              <a:t> </a:t>
            </a:r>
            <a:r>
              <a:rPr dirty="0"/>
              <a:t>levels,</a:t>
            </a:r>
            <a:r>
              <a:rPr spc="-35" dirty="0"/>
              <a:t> </a:t>
            </a:r>
            <a:r>
              <a:rPr spc="-25" dirty="0"/>
              <a:t>and</a:t>
            </a:r>
          </a:p>
          <a:p>
            <a:pPr marL="435609">
              <a:lnSpc>
                <a:spcPct val="100000"/>
              </a:lnSpc>
              <a:spcBef>
                <a:spcPts val="1200"/>
              </a:spcBef>
            </a:pPr>
            <a:r>
              <a:rPr dirty="0"/>
              <a:t>track</a:t>
            </a:r>
            <a:r>
              <a:rPr spc="-30" dirty="0"/>
              <a:t> </a:t>
            </a:r>
            <a:r>
              <a:rPr dirty="0"/>
              <a:t>progress</a:t>
            </a:r>
            <a:r>
              <a:rPr spc="-55" dirty="0"/>
              <a:t> </a:t>
            </a:r>
            <a:r>
              <a:rPr spc="-10" dirty="0"/>
              <a:t>seamlessly.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5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0D680-16DD-A76E-382B-F45F2592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642" y="17475"/>
            <a:ext cx="5458714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FD92B-E27B-E72A-2E88-989431A5C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888" y="1593951"/>
            <a:ext cx="10249535" cy="4001095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is often hindered by a lack of realistic and personalized practice opportunities.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mock interviews are time-consuming, costly, and don't provide scalable or consistent feedback.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face difficulties in assessing their performance and identifying areas for improvement effectively.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gap in providing personalized feedback to help candidates identify and improve their weaknesses effectively.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16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E2D5-AE7F-217B-770C-ED36DAE8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6642" y="17475"/>
            <a:ext cx="5458714" cy="55399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5521C-2D50-D4C5-A5D7-B5F7DC022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888" y="1593951"/>
            <a:ext cx="10249535" cy="446276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 Interviewer: AI-based mock interview generator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personalized, resume/job description-based dialogs, designed to enhance job interview preparation in low-resource environments.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Talking Avatar in VR: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Immersive training system leveraging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Unity, Oculus Quest 2, and Rasa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investigative interviews with realistic child avatars for CPS professionals.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Conversational AI: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systems utilize state-of-the-art NLP techniques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Watson TTS/STT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pre-trained models to deliver dynamic, context-aware interactions.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Training Tools: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scalable, innovative solutions to traditional training methods, improving user engagement and real-world applicability.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63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2658" y="127203"/>
            <a:ext cx="31889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799338"/>
            <a:ext cx="10251440" cy="5222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6</a:t>
            </a:r>
            <a:endParaRPr sz="2000">
              <a:latin typeface="Century Gothic"/>
              <a:cs typeface="Century Gothic"/>
            </a:endParaRPr>
          </a:p>
          <a:p>
            <a:pPr marL="355600" marR="535305" indent="-343535">
              <a:lnSpc>
                <a:spcPct val="150000"/>
              </a:lnSpc>
              <a:spcBef>
                <a:spcPts val="2110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1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Avatar: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We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avatar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animations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realistic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interviewer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who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respond naturally,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simulating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real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environment.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42F0F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Application: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 system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 be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app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built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React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Three.js,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making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cost-effective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accessible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device,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without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VR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technology.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5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Langchain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Memory: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Langchain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memory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allow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track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conversation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ask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follow-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up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questions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previous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answers,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making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feel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more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natural.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A42F0F"/>
              </a:buClr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Error</a:t>
            </a:r>
            <a:r>
              <a:rPr sz="18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Management: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If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there’s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any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misunderstanding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inappropriate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response,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end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respectfully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inform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user.</a:t>
            </a:r>
            <a:endParaRPr sz="1800">
              <a:latin typeface="Times New Roman"/>
              <a:cs typeface="Times New Roman"/>
            </a:endParaRPr>
          </a:p>
          <a:p>
            <a:pPr marL="355600" marR="619760" indent="-343535">
              <a:lnSpc>
                <a:spcPct val="150100"/>
              </a:lnSpc>
              <a:spcBef>
                <a:spcPts val="990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Evaluation: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interview,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evaluate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responses,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tone,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confidence,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providing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scorecard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feedback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strengths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areas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improvement.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528" y="1324863"/>
            <a:ext cx="9084945" cy="4421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7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3759" y="6034227"/>
            <a:ext cx="2541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Fig.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1: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System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10278" y="136016"/>
            <a:ext cx="167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Frontend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4767" y="799338"/>
            <a:ext cx="8526780" cy="5134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8</a:t>
            </a:r>
            <a:endParaRPr sz="2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000">
              <a:latin typeface="Century Gothic"/>
              <a:cs typeface="Century Gothic"/>
            </a:endParaRPr>
          </a:p>
          <a:p>
            <a:pPr marL="129539">
              <a:lnSpc>
                <a:spcPct val="100000"/>
              </a:lnSpc>
              <a:spcBef>
                <a:spcPts val="5"/>
              </a:spcBef>
              <a:tabLst>
                <a:tab pos="472440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Overview:</a:t>
            </a:r>
            <a:endParaRPr sz="1800">
              <a:latin typeface="Times New Roman"/>
              <a:cs typeface="Times New Roman"/>
            </a:endParaRPr>
          </a:p>
          <a:p>
            <a:pPr marL="872490" marR="398145" indent="-28575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873760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frontend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responsible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interaction,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handling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input,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displaying</a:t>
            </a:r>
            <a:r>
              <a:rPr sz="16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driven 	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6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responses.</a:t>
            </a:r>
            <a:endParaRPr sz="16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1000"/>
              </a:spcBef>
              <a:tabLst>
                <a:tab pos="472440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Components:</a:t>
            </a:r>
            <a:endParaRPr sz="18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16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Section:</a:t>
            </a:r>
            <a:endParaRPr sz="16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Resume</a:t>
            </a:r>
            <a:r>
              <a:rPr sz="1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(PDF),</a:t>
            </a:r>
            <a:r>
              <a:rPr sz="1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Job</a:t>
            </a:r>
            <a:r>
              <a:rPr sz="1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Description,</a:t>
            </a:r>
            <a:r>
              <a:rPr sz="1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Difficulty</a:t>
            </a:r>
            <a:r>
              <a:rPr sz="14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Level</a:t>
            </a:r>
            <a:r>
              <a:rPr sz="1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Users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upload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these</a:t>
            </a:r>
            <a:r>
              <a:rPr sz="14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personalize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interview.</a:t>
            </a:r>
            <a:endParaRPr sz="14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Microphone</a:t>
            </a:r>
            <a:r>
              <a:rPr sz="1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(Google</a:t>
            </a:r>
            <a:r>
              <a:rPr sz="14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400" b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API)</a:t>
            </a:r>
            <a:r>
              <a:rPr sz="1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Captures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responses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real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Processing</a:t>
            </a:r>
            <a:r>
              <a:rPr sz="16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Section:</a:t>
            </a:r>
            <a:endParaRPr sz="16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Sends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input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backend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AI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processing.</a:t>
            </a:r>
            <a:endParaRPr sz="14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real-time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responses</a:t>
            </a:r>
            <a:r>
              <a:rPr sz="14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from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AI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interviewer.</a:t>
            </a:r>
            <a:endParaRPr sz="14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Output</a:t>
            </a:r>
            <a:r>
              <a:rPr sz="16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Section:</a:t>
            </a:r>
            <a:endParaRPr sz="16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Ready</a:t>
            </a:r>
            <a:r>
              <a:rPr sz="1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Player</a:t>
            </a:r>
            <a:r>
              <a:rPr sz="14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Me</a:t>
            </a:r>
            <a:r>
              <a:rPr sz="1400" b="1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Avatar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4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realistic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avatar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acts</a:t>
            </a:r>
            <a:r>
              <a:rPr sz="1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AI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interviewer.</a:t>
            </a:r>
            <a:endParaRPr sz="1400">
              <a:latin typeface="Times New Roman"/>
              <a:cs typeface="Times New Roman"/>
            </a:endParaRPr>
          </a:p>
          <a:p>
            <a:pPr marL="1273175" lvl="1" indent="-28511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1273175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Chat</a:t>
            </a:r>
            <a:r>
              <a:rPr sz="14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View</a:t>
            </a:r>
            <a:r>
              <a:rPr sz="1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Displays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conversation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history</a:t>
            </a:r>
            <a:r>
              <a:rPr sz="14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verification.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7075" y="17475"/>
            <a:ext cx="16249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Backend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4767" y="641939"/>
            <a:ext cx="8930640" cy="445643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000" spc="-50" dirty="0">
                <a:solidFill>
                  <a:srgbClr val="FDFFFF"/>
                </a:solidFill>
                <a:latin typeface="Century Gothic"/>
                <a:cs typeface="Century Gothic"/>
              </a:rPr>
              <a:t>9</a:t>
            </a:r>
            <a:endParaRPr sz="2000">
              <a:latin typeface="Century Gothic"/>
              <a:cs typeface="Century Gothic"/>
            </a:endParaRPr>
          </a:p>
          <a:p>
            <a:pPr marL="129539">
              <a:lnSpc>
                <a:spcPct val="100000"/>
              </a:lnSpc>
              <a:spcBef>
                <a:spcPts val="1115"/>
              </a:spcBef>
              <a:tabLst>
                <a:tab pos="472440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Overview:</a:t>
            </a:r>
            <a:endParaRPr sz="18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backend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processes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responses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16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AI,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recognition,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animation</a:t>
            </a:r>
            <a:r>
              <a:rPr sz="1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techniques.</a:t>
            </a:r>
            <a:endParaRPr sz="1600">
              <a:latin typeface="Times New Roman"/>
              <a:cs typeface="Times New Roman"/>
            </a:endParaRPr>
          </a:p>
          <a:p>
            <a:pPr marL="129539">
              <a:lnSpc>
                <a:spcPct val="100000"/>
              </a:lnSpc>
              <a:spcBef>
                <a:spcPts val="1000"/>
              </a:spcBef>
              <a:tabLst>
                <a:tab pos="472440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Key</a:t>
            </a:r>
            <a:r>
              <a:rPr sz="18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Components:</a:t>
            </a:r>
            <a:endParaRPr sz="18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Speech-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to-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Text</a:t>
            </a:r>
            <a:r>
              <a:rPr sz="1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(STT)</a:t>
            </a:r>
            <a:r>
              <a:rPr sz="1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Service:</a:t>
            </a:r>
            <a:r>
              <a:rPr sz="16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Google</a:t>
            </a:r>
            <a:r>
              <a:rPr sz="16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6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600" b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API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convert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user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text.</a:t>
            </a:r>
            <a:endParaRPr sz="1600">
              <a:latin typeface="Times New Roman"/>
              <a:cs typeface="Times New Roman"/>
            </a:endParaRPr>
          </a:p>
          <a:p>
            <a:pPr marL="872490" marR="349250" indent="-285750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873760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Large</a:t>
            </a:r>
            <a:r>
              <a:rPr sz="16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Language</a:t>
            </a:r>
            <a:r>
              <a:rPr sz="1600" b="1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Model</a:t>
            </a:r>
            <a:r>
              <a:rPr sz="16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(LLM):</a:t>
            </a:r>
            <a:r>
              <a:rPr sz="16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Llama</a:t>
            </a:r>
            <a:r>
              <a:rPr sz="1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3-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70B</a:t>
            </a:r>
            <a:r>
              <a:rPr sz="16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Versatile</a:t>
            </a:r>
            <a:r>
              <a:rPr sz="1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generate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dynamic</a:t>
            </a:r>
            <a:r>
              <a:rPr sz="1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interview 	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questions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evaluate</a:t>
            </a:r>
            <a:r>
              <a:rPr sz="16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responses.</a:t>
            </a:r>
            <a:endParaRPr sz="16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Text-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to-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(TTS)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Service:</a:t>
            </a:r>
            <a:r>
              <a:rPr sz="16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Uses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Edge</a:t>
            </a:r>
            <a:r>
              <a:rPr sz="16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TTS</a:t>
            </a:r>
            <a:r>
              <a:rPr sz="16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convert</a:t>
            </a:r>
            <a:r>
              <a:rPr sz="16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generated</a:t>
            </a:r>
            <a:r>
              <a:rPr sz="1600" spc="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text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into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realistic</a:t>
            </a:r>
            <a:r>
              <a:rPr sz="16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speech.</a:t>
            </a:r>
            <a:endParaRPr sz="16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1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Lip</a:t>
            </a:r>
            <a:r>
              <a:rPr sz="1600" b="1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Sync</a:t>
            </a:r>
            <a:r>
              <a:rPr sz="16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1600" b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Animation </a:t>
            </a: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Manager:</a:t>
            </a:r>
            <a:endParaRPr sz="1600">
              <a:latin typeface="Times New Roman"/>
              <a:cs typeface="Times New Roman"/>
            </a:endParaRPr>
          </a:p>
          <a:p>
            <a:pPr marL="1272540" lvl="1" indent="-227965">
              <a:lnSpc>
                <a:spcPct val="100000"/>
              </a:lnSpc>
              <a:spcBef>
                <a:spcPts val="1005"/>
              </a:spcBef>
              <a:buClr>
                <a:srgbClr val="A42F0F"/>
              </a:buClr>
              <a:buFont typeface="Wingdings"/>
              <a:buChar char=""/>
              <a:tabLst>
                <a:tab pos="1272540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Rhubarb</a:t>
            </a:r>
            <a:r>
              <a:rPr sz="14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Generates</a:t>
            </a:r>
            <a:r>
              <a:rPr sz="1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accurate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lip-sync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avatar.</a:t>
            </a:r>
            <a:endParaRPr sz="1400">
              <a:latin typeface="Times New Roman"/>
              <a:cs typeface="Times New Roman"/>
            </a:endParaRPr>
          </a:p>
          <a:p>
            <a:pPr marL="1272540" lvl="1" indent="-227965">
              <a:lnSpc>
                <a:spcPct val="100000"/>
              </a:lnSpc>
              <a:spcBef>
                <a:spcPts val="994"/>
              </a:spcBef>
              <a:buClr>
                <a:srgbClr val="A42F0F"/>
              </a:buClr>
              <a:buFont typeface="Wingdings"/>
              <a:buChar char=""/>
              <a:tabLst>
                <a:tab pos="1272540" algn="l"/>
              </a:tabLst>
            </a:pP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Adobe</a:t>
            </a:r>
            <a:r>
              <a:rPr sz="1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imes New Roman"/>
                <a:cs typeface="Times New Roman"/>
              </a:rPr>
              <a:t>Mixamo</a:t>
            </a:r>
            <a:r>
              <a:rPr sz="1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–</a:t>
            </a:r>
            <a:r>
              <a:rPr sz="1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Provides</a:t>
            </a:r>
            <a:r>
              <a:rPr sz="1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realistic</a:t>
            </a:r>
            <a:r>
              <a:rPr sz="14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404040"/>
                </a:solidFill>
                <a:latin typeface="Times New Roman"/>
                <a:cs typeface="Times New Roman"/>
              </a:rPr>
              <a:t>avatar</a:t>
            </a:r>
            <a:r>
              <a:rPr sz="1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imes New Roman"/>
                <a:cs typeface="Times New Roman"/>
              </a:rPr>
              <a:t>animations.</a:t>
            </a:r>
            <a:endParaRPr sz="1400">
              <a:latin typeface="Times New Roman"/>
              <a:cs typeface="Times New Roman"/>
            </a:endParaRPr>
          </a:p>
          <a:p>
            <a:pPr marL="873125" indent="-285750">
              <a:lnSpc>
                <a:spcPct val="100000"/>
              </a:lnSpc>
              <a:spcBef>
                <a:spcPts val="1000"/>
              </a:spcBef>
              <a:buClr>
                <a:srgbClr val="A42F0F"/>
              </a:buClr>
              <a:buFont typeface="Wingdings"/>
              <a:buChar char=""/>
              <a:tabLst>
                <a:tab pos="873125" algn="l"/>
              </a:tabLst>
            </a:pPr>
            <a:r>
              <a:rPr sz="16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1600" b="1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Avatar</a:t>
            </a:r>
            <a:r>
              <a:rPr sz="1600" b="1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(Ready</a:t>
            </a:r>
            <a:r>
              <a:rPr sz="1600" b="1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Player</a:t>
            </a:r>
            <a:r>
              <a:rPr sz="16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imes New Roman"/>
                <a:cs typeface="Times New Roman"/>
              </a:rPr>
              <a:t>Me):</a:t>
            </a:r>
            <a:r>
              <a:rPr sz="16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Represents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AI</a:t>
            </a:r>
            <a:r>
              <a:rPr sz="16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interviewer,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making</a:t>
            </a:r>
            <a:r>
              <a:rPr sz="16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experience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immersive.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57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0" dirty="0"/>
              <a:t> 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068" y="1332893"/>
            <a:ext cx="8203565" cy="450405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Century Gothic"/>
                <a:cs typeface="Century Gothic"/>
              </a:rPr>
              <a:t>Hardware</a:t>
            </a:r>
            <a:r>
              <a:rPr sz="1800" b="1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entury Gothic"/>
                <a:cs typeface="Century Gothic"/>
              </a:rPr>
              <a:t>Requirements</a:t>
            </a:r>
            <a:endParaRPr sz="18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1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Processor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Intel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i5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2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higher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/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AMD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Ryzen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5</a:t>
            </a:r>
            <a:r>
              <a:rPr sz="1600" spc="-3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higher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0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RAM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Minimum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8</a:t>
            </a:r>
            <a:r>
              <a:rPr sz="1600" spc="-6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GB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(16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GB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recommended</a:t>
            </a:r>
            <a:r>
              <a:rPr sz="1600" spc="-1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for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smooth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operation)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1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Storage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At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least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20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GB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free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disk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space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0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Camera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6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webcam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for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facial</a:t>
            </a:r>
            <a:r>
              <a:rPr sz="1600" spc="-7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analysis</a:t>
            </a:r>
            <a:r>
              <a:rPr sz="1600" spc="-7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(optional)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0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Microphone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Integrated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external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for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voice</a:t>
            </a:r>
            <a:r>
              <a:rPr sz="1600" spc="-7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input</a:t>
            </a:r>
            <a:endParaRPr sz="1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Century Gothic"/>
                <a:cs typeface="Century Gothic"/>
              </a:rPr>
              <a:t>Software</a:t>
            </a:r>
            <a:r>
              <a:rPr sz="1800" b="1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entury Gothic"/>
                <a:cs typeface="Century Gothic"/>
              </a:rPr>
              <a:t>Requirements</a:t>
            </a:r>
            <a:endParaRPr sz="18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10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Operating</a:t>
            </a:r>
            <a:r>
              <a:rPr sz="1600" b="1" spc="-2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System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6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Windows</a:t>
            </a:r>
            <a:r>
              <a:rPr sz="1600" spc="1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10pro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higher,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macOS,</a:t>
            </a:r>
            <a:r>
              <a:rPr sz="1600" spc="-5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Linux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0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Programming</a:t>
            </a:r>
            <a:r>
              <a:rPr sz="1600" b="1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Environment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Python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3.11.15</a:t>
            </a:r>
            <a:r>
              <a:rPr sz="1600" spc="-7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7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Higher</a:t>
            </a:r>
            <a:endParaRPr sz="1600">
              <a:latin typeface="Century Gothic"/>
              <a:cs typeface="Century Gothic"/>
            </a:endParaRPr>
          </a:p>
          <a:p>
            <a:pPr marL="756285" indent="-286385">
              <a:lnSpc>
                <a:spcPct val="100000"/>
              </a:lnSpc>
              <a:spcBef>
                <a:spcPts val="81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b="1" dirty="0">
                <a:solidFill>
                  <a:srgbClr val="404040"/>
                </a:solidFill>
                <a:latin typeface="Century Gothic"/>
                <a:cs typeface="Century Gothic"/>
              </a:rPr>
              <a:t>Browser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: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Chrome,</a:t>
            </a:r>
            <a:r>
              <a:rPr sz="1600" spc="-3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Firefox,</a:t>
            </a:r>
            <a:r>
              <a:rPr sz="1600" spc="-4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Edge</a:t>
            </a:r>
            <a:r>
              <a:rPr sz="1600" spc="-2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(for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web-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based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 tools)</a:t>
            </a:r>
            <a:endParaRPr sz="1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solidFill>
                  <a:srgbClr val="404040"/>
                </a:solidFill>
                <a:latin typeface="Century Gothic"/>
                <a:cs typeface="Century Gothic"/>
              </a:rPr>
              <a:t>Network</a:t>
            </a:r>
            <a:r>
              <a:rPr sz="1800" b="1" spc="-10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entury Gothic"/>
                <a:cs typeface="Century Gothic"/>
              </a:rPr>
              <a:t>Requirements</a:t>
            </a:r>
            <a:endParaRPr sz="1800">
              <a:latin typeface="Century Gothic"/>
              <a:cs typeface="Century Gothic"/>
            </a:endParaRPr>
          </a:p>
          <a:p>
            <a:pPr marL="756285" marR="5080" indent="-287020">
              <a:lnSpc>
                <a:spcPts val="1730"/>
              </a:lnSpc>
              <a:spcBef>
                <a:spcPts val="1015"/>
              </a:spcBef>
              <a:buClr>
                <a:srgbClr val="A42F0F"/>
              </a:buClr>
              <a:buFont typeface="Arial"/>
              <a:buChar char="•"/>
              <a:tabLst>
                <a:tab pos="756285" algn="l"/>
              </a:tabLst>
            </a:pP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Stable</a:t>
            </a:r>
            <a:r>
              <a:rPr sz="1600" spc="-6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internet</a:t>
            </a:r>
            <a:r>
              <a:rPr sz="16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connection</a:t>
            </a:r>
            <a:r>
              <a:rPr sz="1600" spc="-2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(minimum</a:t>
            </a:r>
            <a:r>
              <a:rPr sz="1600" spc="-2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10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Mbps)</a:t>
            </a:r>
            <a:r>
              <a:rPr sz="1600" spc="-7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for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accessing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cloud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entury Gothic"/>
                <a:cs typeface="Century Gothic"/>
              </a:rPr>
              <a:t>models,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updates,</a:t>
            </a:r>
            <a:r>
              <a:rPr sz="1600" spc="-5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or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dirty="0">
                <a:solidFill>
                  <a:srgbClr val="404040"/>
                </a:solidFill>
                <a:latin typeface="Century Gothic"/>
                <a:cs typeface="Century Gothic"/>
              </a:rPr>
              <a:t>external</a:t>
            </a:r>
            <a:r>
              <a:rPr sz="1600" spc="-4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entury Gothic"/>
                <a:cs typeface="Century Gothic"/>
              </a:rPr>
              <a:t>APIs.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10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628" y="183641"/>
            <a:ext cx="2916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UML</a:t>
            </a:r>
            <a:r>
              <a:rPr spc="-16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0976" y="951356"/>
            <a:ext cx="1731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-50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Use</a:t>
            </a:r>
            <a:r>
              <a:rPr sz="16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case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11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893" y="1415910"/>
            <a:ext cx="8691753" cy="420814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28771" y="5860186"/>
            <a:ext cx="2764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5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2: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Use Case</a:t>
            </a:r>
            <a:r>
              <a:rPr sz="1800" spc="-1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diagram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628" y="28194"/>
            <a:ext cx="2916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UML</a:t>
            </a:r>
            <a:r>
              <a:rPr spc="-16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9570" y="805053"/>
            <a:ext cx="3270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365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Flow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(Context</a:t>
            </a:r>
            <a:r>
              <a:rPr sz="16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Level)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12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789" y="1260094"/>
            <a:ext cx="7973695" cy="15617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789" y="3733800"/>
            <a:ext cx="7973695" cy="23465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82116" y="2823718"/>
            <a:ext cx="6219190" cy="65786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52349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3: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Flow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Diagram</a:t>
            </a:r>
            <a:r>
              <a:rPr sz="1800" spc="-4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Level-</a:t>
            </a:r>
            <a:r>
              <a:rPr sz="1800" spc="-50" dirty="0">
                <a:latin typeface="Century Gothic"/>
                <a:cs typeface="Century Gothic"/>
              </a:rPr>
              <a:t>1</a:t>
            </a:r>
            <a:endParaRPr sz="18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Data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Flow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(DFD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detailed)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958" y="6253683"/>
            <a:ext cx="370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4:</a:t>
            </a:r>
            <a:r>
              <a:rPr sz="1800" spc="-1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Data</a:t>
            </a:r>
            <a:r>
              <a:rPr sz="1800" spc="-2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Flow</a:t>
            </a:r>
            <a:r>
              <a:rPr sz="1800" spc="-2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Diagram</a:t>
            </a:r>
            <a:r>
              <a:rPr sz="1800" spc="-4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Level-</a:t>
            </a:r>
            <a:r>
              <a:rPr sz="1800" spc="-50" dirty="0">
                <a:latin typeface="Century Gothic"/>
                <a:cs typeface="Century Gothic"/>
              </a:rPr>
              <a:t>2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628" y="87248"/>
            <a:ext cx="2916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UML</a:t>
            </a:r>
            <a:r>
              <a:rPr spc="-16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9570" y="794130"/>
            <a:ext cx="1851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375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Sequence</a:t>
            </a:r>
            <a:r>
              <a:rPr sz="16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13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310462"/>
            <a:ext cx="9133332" cy="44709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59809" y="5997955"/>
            <a:ext cx="2892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7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5:</a:t>
            </a:r>
            <a:r>
              <a:rPr sz="1800" spc="-5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Sequence</a:t>
            </a:r>
            <a:r>
              <a:rPr sz="1800" spc="-10" dirty="0">
                <a:latin typeface="Century Gothic"/>
                <a:cs typeface="Century Gothic"/>
              </a:rPr>
              <a:t> Diagram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0622" y="406984"/>
            <a:ext cx="1297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672762"/>
            <a:ext cx="2750820" cy="84581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14</a:t>
            </a:r>
            <a:endParaRPr sz="2000">
              <a:latin typeface="Century Gothic"/>
              <a:cs typeface="Century Gothic"/>
            </a:endParaRPr>
          </a:p>
          <a:p>
            <a:pPr marL="13970">
              <a:lnSpc>
                <a:spcPct val="100000"/>
              </a:lnSpc>
              <a:spcBef>
                <a:spcPts val="894"/>
              </a:spcBef>
              <a:tabLst>
                <a:tab pos="356870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Frontend</a:t>
            </a:r>
            <a:r>
              <a:rPr sz="1800" spc="-35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404040"/>
                </a:solidFill>
                <a:latin typeface="Century Gothic"/>
                <a:cs typeface="Century Gothic"/>
              </a:rPr>
              <a:t>Home</a:t>
            </a:r>
            <a:r>
              <a:rPr sz="1800" spc="-70" dirty="0">
                <a:solidFill>
                  <a:srgbClr val="404040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entury Gothic"/>
                <a:cs typeface="Century Gothic"/>
              </a:rPr>
              <a:t>Page</a:t>
            </a:r>
            <a:endParaRPr sz="18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8255" y="1573428"/>
            <a:ext cx="9074785" cy="4095115"/>
            <a:chOff x="1278255" y="1573428"/>
            <a:chExt cx="9074785" cy="40951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8255" y="1573428"/>
              <a:ext cx="9074404" cy="40948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59855" y="2615437"/>
              <a:ext cx="605155" cy="2427605"/>
            </a:xfrm>
            <a:custGeom>
              <a:avLst/>
              <a:gdLst/>
              <a:ahLst/>
              <a:cxnLst/>
              <a:rect l="l" t="t" r="r" b="b"/>
              <a:pathLst>
                <a:path w="605154" h="2427604">
                  <a:moveTo>
                    <a:pt x="604520" y="2386711"/>
                  </a:moveTo>
                  <a:lnTo>
                    <a:pt x="602361" y="2384552"/>
                  </a:lnTo>
                  <a:lnTo>
                    <a:pt x="233426" y="2384552"/>
                  </a:lnTo>
                  <a:lnTo>
                    <a:pt x="233426" y="2351151"/>
                  </a:lnTo>
                  <a:lnTo>
                    <a:pt x="157226" y="2389251"/>
                  </a:lnTo>
                  <a:lnTo>
                    <a:pt x="233426" y="2427351"/>
                  </a:lnTo>
                  <a:lnTo>
                    <a:pt x="233426" y="2394077"/>
                  </a:lnTo>
                  <a:lnTo>
                    <a:pt x="602361" y="2394077"/>
                  </a:lnTo>
                  <a:lnTo>
                    <a:pt x="604520" y="2391918"/>
                  </a:lnTo>
                  <a:lnTo>
                    <a:pt x="604520" y="2386711"/>
                  </a:lnTo>
                  <a:close/>
                </a:path>
                <a:path w="605154" h="2427604">
                  <a:moveTo>
                    <a:pt x="605155" y="1603248"/>
                  </a:moveTo>
                  <a:lnTo>
                    <a:pt x="604647" y="1600200"/>
                  </a:lnTo>
                  <a:lnTo>
                    <a:pt x="64985" y="1219796"/>
                  </a:lnTo>
                  <a:lnTo>
                    <a:pt x="71221" y="1210945"/>
                  </a:lnTo>
                  <a:lnTo>
                    <a:pt x="84201" y="1192530"/>
                  </a:lnTo>
                  <a:lnTo>
                    <a:pt x="0" y="1179830"/>
                  </a:lnTo>
                  <a:lnTo>
                    <a:pt x="40259" y="1254887"/>
                  </a:lnTo>
                  <a:lnTo>
                    <a:pt x="59461" y="1227632"/>
                  </a:lnTo>
                  <a:lnTo>
                    <a:pt x="596900" y="1606550"/>
                  </a:lnTo>
                  <a:lnTo>
                    <a:pt x="599059" y="1607947"/>
                  </a:lnTo>
                  <a:lnTo>
                    <a:pt x="602107" y="1607439"/>
                  </a:lnTo>
                  <a:lnTo>
                    <a:pt x="603631" y="1605407"/>
                  </a:lnTo>
                  <a:lnTo>
                    <a:pt x="605155" y="1603248"/>
                  </a:lnTo>
                  <a:close/>
                </a:path>
                <a:path w="605154" h="2427604">
                  <a:moveTo>
                    <a:pt x="605155" y="443103"/>
                  </a:moveTo>
                  <a:lnTo>
                    <a:pt x="604647" y="440182"/>
                  </a:lnTo>
                  <a:lnTo>
                    <a:pt x="602488" y="438531"/>
                  </a:lnTo>
                  <a:lnTo>
                    <a:pt x="64046" y="41313"/>
                  </a:lnTo>
                  <a:lnTo>
                    <a:pt x="70713" y="32258"/>
                  </a:lnTo>
                  <a:lnTo>
                    <a:pt x="83820" y="14478"/>
                  </a:lnTo>
                  <a:lnTo>
                    <a:pt x="0" y="0"/>
                  </a:lnTo>
                  <a:lnTo>
                    <a:pt x="38608" y="75819"/>
                  </a:lnTo>
                  <a:lnTo>
                    <a:pt x="58369" y="48996"/>
                  </a:lnTo>
                  <a:lnTo>
                    <a:pt x="596900" y="446278"/>
                  </a:lnTo>
                  <a:lnTo>
                    <a:pt x="598932" y="447802"/>
                  </a:lnTo>
                  <a:lnTo>
                    <a:pt x="601980" y="447294"/>
                  </a:lnTo>
                  <a:lnTo>
                    <a:pt x="605155" y="4431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20029" y="2644520"/>
            <a:ext cx="10471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00"/>
                </a:solidFill>
                <a:latin typeface="Century Gothic"/>
                <a:cs typeface="Century Gothic"/>
              </a:rPr>
              <a:t>Resume Uploading</a:t>
            </a:r>
            <a:endParaRPr sz="16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2330" y="3263998"/>
            <a:ext cx="11226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entury Gothic"/>
                <a:cs typeface="Century Gothic"/>
              </a:rPr>
              <a:t>Job </a:t>
            </a:r>
            <a:r>
              <a:rPr sz="1600" spc="-10" dirty="0">
                <a:latin typeface="Century Gothic"/>
                <a:cs typeface="Century Gothic"/>
              </a:rPr>
              <a:t>Description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2404" y="4856734"/>
            <a:ext cx="4399915" cy="131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4805" marR="19431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0000"/>
                </a:solidFill>
                <a:latin typeface="Century Gothic"/>
                <a:cs typeface="Century Gothic"/>
              </a:rPr>
              <a:t>Difficulty Level</a:t>
            </a: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1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6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6:</a:t>
            </a:r>
            <a:r>
              <a:rPr sz="1800" spc="-4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Home</a:t>
            </a:r>
            <a:r>
              <a:rPr sz="1800" spc="-4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Page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Interface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Screenshot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759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9570" y="1000505"/>
            <a:ext cx="1595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600" spc="375" dirty="0">
                <a:solidFill>
                  <a:srgbClr val="A42F0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6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Panel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15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1384363"/>
            <a:ext cx="8673338" cy="45838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08529" y="1759458"/>
            <a:ext cx="782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Century Gothic"/>
                <a:cs typeface="Century Gothic"/>
              </a:rPr>
              <a:t>Avatar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5628" y="1768855"/>
            <a:ext cx="1600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50"/>
                </a:solidFill>
                <a:latin typeface="Century Gothic"/>
                <a:cs typeface="Century Gothic"/>
              </a:rPr>
              <a:t>User Live</a:t>
            </a:r>
            <a:r>
              <a:rPr sz="1800" spc="-55" dirty="0">
                <a:solidFill>
                  <a:srgbClr val="00AF50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Century Gothic"/>
                <a:cs typeface="Century Gothic"/>
              </a:rPr>
              <a:t>Feed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80250" y="4394961"/>
            <a:ext cx="164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entury Gothic"/>
                <a:cs typeface="Century Gothic"/>
              </a:rPr>
              <a:t>Evaluation</a:t>
            </a:r>
            <a:r>
              <a:rPr sz="1800" spc="-70" dirty="0">
                <a:solidFill>
                  <a:srgbClr val="006FC0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Century Gothic"/>
                <a:cs typeface="Century Gothic"/>
              </a:rPr>
              <a:t>call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4169" y="4504690"/>
            <a:ext cx="318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Century Gothic"/>
                <a:cs typeface="Century Gothic"/>
              </a:rPr>
              <a:t>Interview</a:t>
            </a:r>
            <a:r>
              <a:rPr sz="1800" spc="-7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FFFF00"/>
                </a:solidFill>
                <a:latin typeface="Century Gothic"/>
                <a:cs typeface="Century Gothic"/>
              </a:rPr>
              <a:t>Conversation</a:t>
            </a:r>
            <a:r>
              <a:rPr sz="1800" spc="-7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800" spc="-20" dirty="0">
                <a:solidFill>
                  <a:srgbClr val="FFFF00"/>
                </a:solidFill>
                <a:latin typeface="Century Gothic"/>
                <a:cs typeface="Century Gothic"/>
              </a:rPr>
              <a:t>Chat</a:t>
            </a:r>
            <a:endParaRPr sz="18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2371" y="6174435"/>
            <a:ext cx="36880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7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7: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Interview</a:t>
            </a:r>
            <a:r>
              <a:rPr sz="1800" spc="-5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Panel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Screenshot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886" rIns="0" bIns="0" rtlCol="0">
            <a:spAutoFit/>
          </a:bodyPr>
          <a:lstStyle/>
          <a:p>
            <a:pPr marL="13474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3335" y="1372311"/>
            <a:ext cx="2038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Evaluation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Report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16</a:t>
            </a:r>
            <a:endParaRPr sz="200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0067" y="2147442"/>
            <a:ext cx="4669662" cy="33635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4797" y="2115947"/>
            <a:ext cx="4702936" cy="336359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3161" y="5702909"/>
            <a:ext cx="495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entury Gothic"/>
                <a:cs typeface="Century Gothic"/>
              </a:rPr>
              <a:t>Fig.</a:t>
            </a:r>
            <a:r>
              <a:rPr sz="1800" spc="-6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4:</a:t>
            </a:r>
            <a:r>
              <a:rPr sz="1800" spc="-3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Interview</a:t>
            </a:r>
            <a:r>
              <a:rPr sz="1800" spc="-50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Evaluation</a:t>
            </a:r>
            <a:r>
              <a:rPr sz="1800" spc="-65" dirty="0">
                <a:latin typeface="Century Gothic"/>
                <a:cs typeface="Century Gothic"/>
              </a:rPr>
              <a:t> </a:t>
            </a:r>
            <a:r>
              <a:rPr sz="1800" dirty="0">
                <a:latin typeface="Century Gothic"/>
                <a:cs typeface="Century Gothic"/>
              </a:rPr>
              <a:t>report</a:t>
            </a:r>
            <a:r>
              <a:rPr sz="1800" spc="-35" dirty="0">
                <a:latin typeface="Century Gothic"/>
                <a:cs typeface="Century Gothic"/>
              </a:rPr>
              <a:t> </a:t>
            </a:r>
            <a:r>
              <a:rPr sz="1800" spc="-10" dirty="0">
                <a:latin typeface="Century Gothic"/>
                <a:cs typeface="Century Gothic"/>
              </a:rPr>
              <a:t>Screenshot</a:t>
            </a:r>
            <a:endParaRPr sz="1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886" rIns="0" bIns="0" rtlCol="0">
            <a:spAutoFit/>
          </a:bodyPr>
          <a:lstStyle/>
          <a:p>
            <a:pPr marL="9404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8659" y="1759458"/>
            <a:ext cx="875601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AI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Mock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combines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3D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avatars,</a:t>
            </a:r>
            <a:r>
              <a:rPr sz="1800" b="1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driven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questions,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speech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recognition</a:t>
            </a:r>
            <a:r>
              <a:rPr sz="1800" b="1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realistic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experience.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Google</a:t>
            </a:r>
            <a:r>
              <a:rPr sz="1800" b="1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Web</a:t>
            </a:r>
            <a:r>
              <a:rPr sz="1800" b="1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Speech</a:t>
            </a:r>
            <a:r>
              <a:rPr sz="1800" b="1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API,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Llama 3-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70B,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Edge</a:t>
            </a:r>
            <a:r>
              <a:rPr sz="18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TTS,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Mixamo</a:t>
            </a:r>
            <a:r>
              <a:rPr sz="18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animations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enhances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preparation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18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feedback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b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personalized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evaluation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r>
              <a:rPr sz="1800" spc="-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system</a:t>
            </a:r>
            <a:r>
              <a:rPr sz="18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improves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candidate</a:t>
            </a:r>
            <a:r>
              <a:rPr sz="18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confidence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adaptability,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paving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way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future</a:t>
            </a:r>
            <a:r>
              <a:rPr sz="1800" b="1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driven</a:t>
            </a:r>
            <a:r>
              <a:rPr sz="18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advancements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training.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17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525" y="264617"/>
            <a:ext cx="38201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0" dirty="0"/>
              <a:t> Enhancement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3036" y="692124"/>
            <a:ext cx="9333230" cy="511873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18</a:t>
            </a:r>
            <a:endParaRPr sz="2000">
              <a:latin typeface="Century Gothic"/>
              <a:cs typeface="Century Gothic"/>
            </a:endParaRPr>
          </a:p>
          <a:p>
            <a:pPr marL="614045" indent="-342900">
              <a:lnSpc>
                <a:spcPct val="100000"/>
              </a:lnSpc>
              <a:spcBef>
                <a:spcPts val="850"/>
              </a:spcBef>
              <a:buFont typeface="Wingdings"/>
              <a:buChar char=""/>
              <a:tabLst>
                <a:tab pos="614045" algn="l"/>
              </a:tabLst>
            </a:pPr>
            <a:r>
              <a:rPr sz="2000" b="1" dirty="0">
                <a:latin typeface="Times New Roman"/>
                <a:cs typeface="Times New Roman"/>
              </a:rPr>
              <a:t>Emotion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Recognition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Integration</a:t>
            </a:r>
            <a:endParaRPr sz="2000">
              <a:latin typeface="Times New Roman"/>
              <a:cs typeface="Times New Roman"/>
            </a:endParaRPr>
          </a:p>
          <a:p>
            <a:pPr marL="614045" marR="78041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Incorporate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facial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emotion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assess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candidate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confidence,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anxiety,</a:t>
            </a:r>
            <a:r>
              <a:rPr sz="2000" spc="-25" dirty="0">
                <a:latin typeface="Times New Roman"/>
                <a:cs typeface="Times New Roman"/>
              </a:rPr>
              <a:t> or </a:t>
            </a:r>
            <a:r>
              <a:rPr sz="2000" dirty="0">
                <a:latin typeface="Times New Roman"/>
                <a:cs typeface="Times New Roman"/>
              </a:rPr>
              <a:t>hesitation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deeper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evaluation.</a:t>
            </a:r>
            <a:endParaRPr sz="2000">
              <a:latin typeface="Times New Roman"/>
              <a:cs typeface="Times New Roman"/>
            </a:endParaRPr>
          </a:p>
          <a:p>
            <a:pPr marL="614045" indent="-342900">
              <a:lnSpc>
                <a:spcPct val="100000"/>
              </a:lnSpc>
              <a:buFont typeface="Wingdings"/>
              <a:buChar char=""/>
              <a:tabLst>
                <a:tab pos="614045" algn="l"/>
              </a:tabLst>
            </a:pPr>
            <a:r>
              <a:rPr sz="2000" b="1" dirty="0">
                <a:latin typeface="Times New Roman"/>
                <a:cs typeface="Times New Roman"/>
              </a:rPr>
              <a:t>Multilingual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Support</a:t>
            </a:r>
            <a:endParaRPr sz="200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Expand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regional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global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languages,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practice</a:t>
            </a:r>
            <a:endParaRPr sz="200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interviews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market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language.</a:t>
            </a:r>
            <a:endParaRPr sz="2000">
              <a:latin typeface="Times New Roman"/>
              <a:cs typeface="Times New Roman"/>
            </a:endParaRPr>
          </a:p>
          <a:p>
            <a:pPr marL="614045" indent="-342900">
              <a:lnSpc>
                <a:spcPct val="100000"/>
              </a:lnSpc>
              <a:buFont typeface="Wingdings"/>
              <a:buChar char=""/>
              <a:tabLst>
                <a:tab pos="614045" algn="l"/>
              </a:tabLst>
            </a:pPr>
            <a:r>
              <a:rPr sz="2000" b="1" dirty="0">
                <a:latin typeface="Times New Roman"/>
                <a:cs typeface="Times New Roman"/>
              </a:rPr>
              <a:t>Personalized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Feedback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 marL="614045" marR="85344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Implement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analytics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sentiment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analysis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scoring </a:t>
            </a:r>
            <a:r>
              <a:rPr sz="2000" dirty="0">
                <a:latin typeface="Times New Roman"/>
                <a:cs typeface="Times New Roman"/>
              </a:rPr>
              <a:t>mechanisms tailored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industry-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job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roles.</a:t>
            </a:r>
            <a:endParaRPr sz="2000">
              <a:latin typeface="Times New Roman"/>
              <a:cs typeface="Times New Roman"/>
            </a:endParaRPr>
          </a:p>
          <a:p>
            <a:pPr marL="614045" indent="-342900">
              <a:lnSpc>
                <a:spcPct val="100000"/>
              </a:lnSpc>
              <a:buFont typeface="Wingdings"/>
              <a:buChar char=""/>
              <a:tabLst>
                <a:tab pos="614045" algn="l"/>
              </a:tabLst>
            </a:pPr>
            <a:r>
              <a:rPr sz="2000" b="1" dirty="0">
                <a:latin typeface="Times New Roman"/>
                <a:cs typeface="Times New Roman"/>
              </a:rPr>
              <a:t>Mobile</a:t>
            </a:r>
            <a:r>
              <a:rPr sz="2000" b="1" spc="-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Application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Deployment</a:t>
            </a:r>
            <a:endParaRPr sz="2000">
              <a:latin typeface="Times New Roman"/>
              <a:cs typeface="Times New Roman"/>
            </a:endParaRPr>
          </a:p>
          <a:p>
            <a:pPr marL="614045" marR="508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Launch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mobile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increase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accessibility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candidates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practice</a:t>
            </a:r>
            <a:r>
              <a:rPr sz="2000" spc="-25" dirty="0">
                <a:latin typeface="Times New Roman"/>
                <a:cs typeface="Times New Roman"/>
              </a:rPr>
              <a:t> on- </a:t>
            </a:r>
            <a:r>
              <a:rPr sz="2000" dirty="0">
                <a:latin typeface="Times New Roman"/>
                <a:cs typeface="Times New Roman"/>
              </a:rPr>
              <a:t>the-go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immersive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  <a:p>
            <a:pPr marL="614045" indent="-342900">
              <a:lnSpc>
                <a:spcPct val="100000"/>
              </a:lnSpc>
              <a:buFont typeface="Wingdings"/>
              <a:buChar char=""/>
              <a:tabLst>
                <a:tab pos="614045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Real-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Facial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Expression</a:t>
            </a:r>
            <a:r>
              <a:rPr sz="2000" b="1" spc="-1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Animation</a:t>
            </a:r>
            <a:endParaRPr sz="200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Sync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avatar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gestures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emotions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 even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more</a:t>
            </a:r>
            <a:endParaRPr sz="2000">
              <a:latin typeface="Times New Roman"/>
              <a:cs typeface="Times New Roman"/>
            </a:endParaRPr>
          </a:p>
          <a:p>
            <a:pPr marL="61404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human-</a:t>
            </a:r>
            <a:r>
              <a:rPr sz="2000" dirty="0">
                <a:latin typeface="Times New Roman"/>
                <a:cs typeface="Times New Roman"/>
              </a:rPr>
              <a:t>like </a:t>
            </a:r>
            <a:r>
              <a:rPr sz="2000" spc="-10" dirty="0">
                <a:latin typeface="Times New Roman"/>
                <a:cs typeface="Times New Roman"/>
              </a:rPr>
              <a:t>interaction.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886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5854" y="1565909"/>
            <a:ext cx="8389620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EZInterviewer:</a:t>
            </a:r>
            <a:r>
              <a:rPr sz="18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Improve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Job</a:t>
            </a:r>
            <a:r>
              <a:rPr sz="18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</a:t>
            </a:r>
            <a:r>
              <a:rPr sz="18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Performance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MockInterview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Generator: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arXiv:2301.00972v1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[cs.CL]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3</a:t>
            </a:r>
            <a:r>
              <a:rPr sz="18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APR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2026</a:t>
            </a:r>
            <a:endParaRPr sz="1800">
              <a:latin typeface="Times New Roman"/>
              <a:cs typeface="Times New Roman"/>
            </a:endParaRPr>
          </a:p>
          <a:p>
            <a:pPr marL="355600" marR="104139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-50" dirty="0">
                <a:solidFill>
                  <a:srgbClr val="A42F0F"/>
                </a:solidFill>
                <a:latin typeface="Wingdings 3"/>
                <a:cs typeface="Wingdings 3"/>
              </a:rPr>
              <a:t></a:t>
            </a:r>
            <a:r>
              <a:rPr sz="1800" dirty="0">
                <a:solidFill>
                  <a:srgbClr val="A42F0F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Towards</a:t>
            </a:r>
            <a:r>
              <a:rPr sz="1800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1800" spc="-1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Driven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Talking</a:t>
            </a:r>
            <a:r>
              <a:rPr sz="18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Avatar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18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Virtual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Reality</a:t>
            </a:r>
            <a:r>
              <a:rPr sz="18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Investigative</a:t>
            </a:r>
            <a:r>
              <a:rPr sz="18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Interviews</a:t>
            </a:r>
            <a:r>
              <a:rPr sz="18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Children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19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6182" y="3040456"/>
            <a:ext cx="5445760" cy="1337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600" dirty="0">
                <a:latin typeface="Century Gothic"/>
                <a:cs typeface="Century Gothic"/>
              </a:rPr>
              <a:t>Thank </a:t>
            </a:r>
            <a:r>
              <a:rPr sz="8600" spc="-25" dirty="0">
                <a:latin typeface="Century Gothic"/>
                <a:cs typeface="Century Gothic"/>
              </a:rPr>
              <a:t>You</a:t>
            </a:r>
            <a:endParaRPr sz="8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FDFFFF"/>
                </a:solidFill>
                <a:latin typeface="Century Gothic"/>
                <a:cs typeface="Century Gothic"/>
              </a:rPr>
              <a:t>20</a:t>
            </a:r>
            <a:endParaRPr sz="2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1249</Words>
  <Application>Microsoft Office PowerPoint</Application>
  <PresentationFormat>Widescreen</PresentationFormat>
  <Paragraphs>168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Century Gothic</vt:lpstr>
      <vt:lpstr>Times New Roman</vt:lpstr>
      <vt:lpstr>Wingdings</vt:lpstr>
      <vt:lpstr>Wingdings 3</vt:lpstr>
      <vt:lpstr>Office Theme</vt:lpstr>
      <vt:lpstr>PowerPoint Presentation</vt:lpstr>
      <vt:lpstr>Bhubaneswar Engineering college</vt:lpstr>
      <vt:lpstr>CONTENTS</vt:lpstr>
      <vt:lpstr>Introduction</vt:lpstr>
      <vt:lpstr>Abstract</vt:lpstr>
      <vt:lpstr>Problem Statement</vt:lpstr>
      <vt:lpstr>Existing System</vt:lpstr>
      <vt:lpstr>Proposed System</vt:lpstr>
      <vt:lpstr>System Architecture</vt:lpstr>
      <vt:lpstr>Frontend</vt:lpstr>
      <vt:lpstr>Backend</vt:lpstr>
      <vt:lpstr>System Requirements</vt:lpstr>
      <vt:lpstr>UML Diagrams</vt:lpstr>
      <vt:lpstr>UML Diagrams</vt:lpstr>
      <vt:lpstr>UML Diagrams</vt:lpstr>
      <vt:lpstr>Output</vt:lpstr>
      <vt:lpstr>Output</vt:lpstr>
      <vt:lpstr>Output</vt:lpstr>
      <vt:lpstr>Conclusion</vt:lpstr>
      <vt:lpstr>Future Enhancement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Kakarla Mahendra Kumar reddy</dc:creator>
  <cp:lastModifiedBy>the berlin</cp:lastModifiedBy>
  <cp:revision>4</cp:revision>
  <dcterms:created xsi:type="dcterms:W3CDTF">2026-05-03T16:52:49Z</dcterms:created>
  <dcterms:modified xsi:type="dcterms:W3CDTF">2026-05-07T16:19:16Z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2026-05-03T00:00:00Z</vt:filetime>
  </property>
  <property fmtid="{D5CDD505-2E9C-101B-9397-08002B2CF9AE}" pid="5" name="Producer">
    <vt:lpwstr>3-Heights(TM) PDF Security Shell 4.8.25.2 (http://www.pdf-tools.com)</vt:lpwstr>
  </property>
</Properties>
</file>